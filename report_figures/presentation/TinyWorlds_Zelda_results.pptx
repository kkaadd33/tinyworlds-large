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13294B"/>
                </a:solidFill>
                <a:latin typeface="Calibri"/>
              </a:rPr>
              <a:t>Tiny World Model on Zelda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383280"/>
            <a:ext cx="9966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555555"/>
                </a:solidFill>
                <a:latin typeface="Calibri"/>
              </a:rPr>
              <a:t>Fixing action-model collapse  ·  adding controllability  ·  sharper images</a:t>
            </a:r>
          </a:p>
          <a:p>
            <a:pPr algn="ctr"/>
            <a:r>
              <a:rPr sz="2200" b="0">
                <a:solidFill>
                  <a:srgbClr val="555555"/>
                </a:solidFill>
                <a:latin typeface="Calibri"/>
              </a:rPr>
              <a:t>at zero added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937760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888899"/>
                </a:solidFill>
                <a:latin typeface="Calibri"/>
              </a:rPr>
              <a:t>Khaled Almansoori  ·  MBZUAI  ·  TinyWorlds (Genie reproduction)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94B"/>
                </a:solidFill>
                <a:latin typeface="Calibri"/>
              </a:rPr>
              <a:t>What I changed — in plain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4023360" cy="381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6118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/>
          <a:lstStyle/>
          <a:p>
            <a:pPr algn="ctr"/>
            <a:r>
              <a:rPr b="1" sz="1800">
                <a:solidFill>
                  <a:srgbClr val="13294B"/>
                </a:solidFill>
              </a:rPr>
              <a:t>1  The action model was collapsing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555555"/>
                </a:solidFill>
              </a:rPr>
              <a:t>The part that learns the controls died during training (kept shrinking to nothing).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A7D3F"/>
                </a:solidFill>
              </a:rPr>
              <a:t>Fix: much lower learning rate + a variance band that keeps it alive + an entropy loss forcing it to use all its action codes.  -&gt; trains stably, uses all 4 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5112" y="1371600"/>
            <a:ext cx="36118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/>
          <a:lstStyle/>
          <a:p>
            <a:pPr algn="ctr"/>
            <a:r>
              <a:rPr b="1" sz="1800">
                <a:solidFill>
                  <a:srgbClr val="13294B"/>
                </a:solidFill>
              </a:rPr>
              <a:t>2  Predictions ignored the action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555555"/>
                </a:solidFill>
              </a:rPr>
              <a:t>Future frames barely responded to the control input — not really playable.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A7D3F"/>
                </a:solidFill>
              </a:rPr>
              <a:t>Fix: train sometimes WITHOUT the action (action-dropout) + classifier-free guidance at inference + stronger action injection (FiLM).  -&gt; the action now steers the world.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01584" y="1371600"/>
            <a:ext cx="36118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/>
          <a:lstStyle/>
          <a:p>
            <a:pPr algn="ctr"/>
            <a:r>
              <a:rPr b="1" sz="1800">
                <a:solidFill>
                  <a:srgbClr val="13294B"/>
                </a:solidFill>
              </a:rPr>
              <a:t>3  Images were blurry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555555"/>
                </a:solidFill>
              </a:rPr>
              <a:t>Plain pixel loss averages detail away -&gt; mushy frames.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A7D3F"/>
                </a:solidFill>
              </a:rPr>
              <a:t>Fix: a perceptual loss (frozen VGG) during training only.  -&gt; sharper textures, 0 extra parameters at inference.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94B"/>
                </a:solidFill>
                <a:latin typeface="Calibri"/>
              </a:rPr>
              <a:t>Model size — fixes cost 0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4023360" cy="381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74980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011680"/>
              </a:tblGrid>
              <a:tr h="4724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anchor="ctr" marT="38100" marB="38100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Parameters</a:t>
                      </a:r>
                    </a:p>
                  </a:txBody>
                  <a:tcPr anchor="ctr" marT="38100" marB="38100">
                    <a:solidFill>
                      <a:srgbClr val="13294B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600">
                          <a:latin typeface="Calibri"/>
                        </a:rPr>
                        <a:t>Video tokenizer (big, used by best run)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Calibri"/>
                        </a:rPr>
                        <a:t>67.3 M</a:t>
                      </a:r>
                    </a:p>
                  </a:txBody>
                  <a:tcPr anchor="ctr" marT="38100" marB="38100"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600">
                          <a:latin typeface="Calibri"/>
                        </a:rPr>
                        <a:t>Video tokenizer (tiny variant)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Calibri"/>
                        </a:rPr>
                        <a:t>0.14 M</a:t>
                      </a:r>
                    </a:p>
                  </a:txBody>
                  <a:tcPr anchor="ctr" marT="38100" marB="38100"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600">
                          <a:latin typeface="Calibri"/>
                        </a:rPr>
                        <a:t>Latent action model (LAM)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Calibri"/>
                        </a:rPr>
                        <a:t>67.4 M</a:t>
                      </a:r>
                    </a:p>
                  </a:txBody>
                  <a:tcPr anchor="ctr" marT="38100" marB="38100"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600">
                          <a:latin typeface="Calibri"/>
                        </a:rPr>
                        <a:t>Dynamics model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Calibri"/>
                        </a:rPr>
                        <a:t>76.3 M</a:t>
                      </a:r>
                    </a:p>
                  </a:txBody>
                  <a:tcPr anchor="ctr" marT="38100" marB="38100"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</a:rPr>
                        <a:t>Best run (D) total</a:t>
                      </a:r>
                    </a:p>
                  </a:txBody>
                  <a:tcPr anchor="ctr" marT="38100" marB="38100">
                    <a:solidFill>
                      <a:srgbClr val="FDE7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</a:rPr>
                        <a:t>~ 211 M</a:t>
                      </a:r>
                    </a:p>
                  </a:txBody>
                  <a:tcPr anchor="ctr" marT="38100" marB="38100">
                    <a:solidFill>
                      <a:srgbClr val="FDE7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480560"/>
            <a:ext cx="1060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Key: every change is a loss function, a training trick, or inference-time guidance — no new weights. The perceptual loss is train-only and discarded at inference. Quality went up at no parameter cost.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94B"/>
                </a:solidFill>
                <a:latin typeface="Calibri"/>
              </a:rPr>
              <a:t>Quantitative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4023360" cy="381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3035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anchor="ctr" marT="38100" marB="38100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Tokenizer</a:t>
                      </a:r>
                    </a:p>
                  </a:txBody>
                  <a:tcPr anchor="ctr" marT="38100" marB="38100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Motion (moves?)</a:t>
                      </a:r>
                    </a:p>
                  </a:txBody>
                  <a:tcPr anchor="ctr" marT="38100" marB="38100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Δ control</a:t>
                      </a:r>
                    </a:p>
                  </a:txBody>
                  <a:tcPr anchor="ctr" marT="38100" marB="38100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Image quality</a:t>
                      </a:r>
                    </a:p>
                  </a:txBody>
                  <a:tcPr anchor="ctr" marT="38100" marB="38100">
                    <a:solidFill>
                      <a:srgbClr val="13294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A — tiny, no perceptual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0.14 M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0.78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+0.47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blurry</a:t>
                      </a:r>
                    </a:p>
                  </a:txBody>
                  <a:tcPr anchor="ctr" marT="38100" marB="38100"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B — tiny + perceptual</a:t>
                      </a:r>
                    </a:p>
                  </a:txBody>
                  <a:tcPr anchor="ctr" marT="38100" marB="38100"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0.14 M</a:t>
                      </a:r>
                    </a:p>
                  </a:txBody>
                  <a:tcPr anchor="ctr" marT="38100" marB="38100"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1.21</a:t>
                      </a:r>
                    </a:p>
                  </a:txBody>
                  <a:tcPr anchor="ctr" marT="38100" marB="38100"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+0.88</a:t>
                      </a:r>
                    </a:p>
                  </a:txBody>
                  <a:tcPr anchor="ctr" marT="38100" marB="38100"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modest</a:t>
                      </a:r>
                    </a:p>
                  </a:txBody>
                  <a:tcPr anchor="ctr" marT="38100" marB="38100">
                    <a:solidFill>
                      <a:srgbClr val="E8F6E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C — big tokenizer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67.3 M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0.96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-0.05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sharp</a:t>
                      </a:r>
                    </a:p>
                  </a:txBody>
                  <a:tcPr anchor="ctr" marT="38100" marB="38100"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D — big + strong control  *</a:t>
                      </a:r>
                    </a:p>
                  </a:txBody>
                  <a:tcPr anchor="ctr" marT="38100" marB="38100">
                    <a:solidFill>
                      <a:srgbClr val="FDE7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67.3 M</a:t>
                      </a:r>
                    </a:p>
                  </a:txBody>
                  <a:tcPr anchor="ctr" marT="38100" marB="38100">
                    <a:solidFill>
                      <a:srgbClr val="FDE7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0.44 *</a:t>
                      </a:r>
                    </a:p>
                  </a:txBody>
                  <a:tcPr anchor="ctr" marT="38100" marB="38100">
                    <a:solidFill>
                      <a:srgbClr val="FDE7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+2.24</a:t>
                      </a:r>
                    </a:p>
                  </a:txBody>
                  <a:tcPr anchor="ctr" marT="38100" marB="38100">
                    <a:solidFill>
                      <a:srgbClr val="FDE7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sharpest</a:t>
                      </a:r>
                    </a:p>
                  </a:txBody>
                  <a:tcPr anchor="ctr" marT="38100" marB="38100">
                    <a:solidFill>
                      <a:srgbClr val="FDE7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9768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Also: action-model collapse FIXED -&gt; stable 4/4 action codes used (was collapsing to 1); LAM-only controllability +1.37 dB; tokenizer reconstruction sharper with perceptual loss.</a:t>
            </a:r>
          </a:p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* the motion-ratio number penalizes D's stable rollout; visually D moves coherently. D chosen for best quality + coherent motion; B is the most action-responsive.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94B"/>
                </a:solidFill>
                <a:latin typeface="Calibri"/>
              </a:rPr>
              <a:t>Qualitative — the two finalists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4023360" cy="381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Each grid:  top = ground truth   ·   middle = prediction WITH action   ·   bottom = prediction with RANDOM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4002B"/>
                </a:solidFill>
                <a:latin typeface="Calibri"/>
              </a:rPr>
              <a:t>D — big + strong control  (chosen): sharpest, coherent motion</a:t>
            </a:r>
          </a:p>
        </p:txBody>
      </p:sp>
      <p:pic>
        <p:nvPicPr>
          <p:cNvPr id="7" name="Picture 6" descr="D_big_strongctr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874519"/>
            <a:ext cx="9326880" cy="26480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34340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7D3F"/>
                </a:solidFill>
                <a:latin typeface="Calibri"/>
              </a:rPr>
              <a:t>B — tiny + perceptual: most action-responsive, but mushier</a:t>
            </a:r>
          </a:p>
        </p:txBody>
      </p:sp>
      <p:pic>
        <p:nvPicPr>
          <p:cNvPr id="9" name="Picture 8" descr="B_tiny_percep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4663440"/>
            <a:ext cx="9326880" cy="26480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94B"/>
                </a:solidFill>
                <a:latin typeface="Calibri"/>
              </a:rPr>
              <a:t>Qualitative — the other two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4023360" cy="381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3294B"/>
                </a:solidFill>
                <a:latin typeface="Calibri"/>
              </a:rPr>
              <a:t>A — tiny, no perceptual: clearly blurry character</a:t>
            </a:r>
          </a:p>
        </p:txBody>
      </p:sp>
      <p:pic>
        <p:nvPicPr>
          <p:cNvPr id="6" name="Picture 5" descr="A_tiny_nopercep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645920"/>
            <a:ext cx="9326880" cy="26480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11480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3294B"/>
                </a:solidFill>
                <a:latin typeface="Calibri"/>
              </a:rPr>
              <a:t>C — big tokenizer: sharp, but the action doesn't steer (random run diverges)</a:t>
            </a:r>
          </a:p>
        </p:txBody>
      </p:sp>
      <p:pic>
        <p:nvPicPr>
          <p:cNvPr id="8" name="Picture 7" descr="C_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4434840"/>
            <a:ext cx="9326880" cy="26480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94B"/>
                </a:solidFill>
                <a:latin typeface="Calibri"/>
              </a:rPr>
              <a:t>Major code changes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4023360" cy="381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005840"/>
                <a:gridCol w="6766560"/>
              </a:tblGrid>
              <a:tr h="5181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anchor="ctr" marT="38100" marB="38100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Lines</a:t>
                      </a:r>
                    </a:p>
                  </a:txBody>
                  <a:tcPr anchor="ctr" marT="38100" marB="38100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anchor="ctr" marT="38100" marB="38100">
                    <a:solidFill>
                      <a:srgbClr val="13294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models/latent_actions.py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124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Joint code-entropy loss + variance band -&gt; stops the action model collapsing</a:t>
                      </a:r>
                    </a:p>
                  </a:txBody>
                  <a:tcPr anchor="ctr" marT="38100" marB="38100"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models/dynamics.py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41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Action-dropout + classifier-free guidance -&gt; controllability</a:t>
                      </a:r>
                    </a:p>
                  </a:txBody>
                  <a:tcPr anchor="ctr" marT="38100" marB="38100"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utils/perceptual.py  (new)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69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Train-only frozen-VGG perceptual loss -&gt; sharper images</a:t>
                      </a:r>
                    </a:p>
                  </a:txBody>
                  <a:tcPr anchor="ctr" marT="38100" marB="38100"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models/norms.py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12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Tunable FiLM init -&gt; stronger action conditioning</a:t>
                      </a:r>
                    </a:p>
                  </a:txBody>
                  <a:tcPr anchor="ctr" marT="38100" marB="38100"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scripts/evaluate.py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28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Prediction-motion metric -&gt; honest 'does it move' measure</a:t>
                      </a:r>
                    </a:p>
                  </a:txBody>
                  <a:tcPr anchor="ctr" marT="38100" marB="3810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7548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3294B"/>
                </a:solidFill>
                <a:latin typeface="Calibri"/>
              </a:rPr>
              <a:t>~ 150 lines of functional code (the rest are comments), across 5 files, with 0 added model parameters.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